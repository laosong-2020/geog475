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309" r:id="rId3"/>
    <p:sldId id="362" r:id="rId4"/>
    <p:sldId id="361" r:id="rId5"/>
    <p:sldId id="312" r:id="rId6"/>
    <p:sldId id="310" r:id="rId7"/>
    <p:sldId id="311" r:id="rId8"/>
    <p:sldId id="354" r:id="rId9"/>
    <p:sldId id="313" r:id="rId10"/>
    <p:sldId id="314" r:id="rId11"/>
    <p:sldId id="315" r:id="rId12"/>
    <p:sldId id="316" r:id="rId13"/>
    <p:sldId id="317" r:id="rId14"/>
    <p:sldId id="318" r:id="rId15"/>
    <p:sldId id="360" r:id="rId16"/>
    <p:sldId id="363" r:id="rId17"/>
    <p:sldId id="288" r:id="rId18"/>
    <p:sldId id="308" r:id="rId19"/>
    <p:sldId id="25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11" autoAdjust="0"/>
    <p:restoredTop sz="89626" autoAdjust="0"/>
  </p:normalViewPr>
  <p:slideViewPr>
    <p:cSldViewPr snapToGrid="0" snapToObjects="1">
      <p:cViewPr varScale="1">
        <p:scale>
          <a:sx n="145" d="100"/>
          <a:sy n="145" d="100"/>
        </p:scale>
        <p:origin x="112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3" d="100"/>
          <a:sy n="123" d="100"/>
        </p:scale>
        <p:origin x="-2816" y="-11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F3E31-9781-B24F-87A9-F98653FBF465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1F4F8C-1785-AC43-97F9-C9301BD93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76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11BF4-8CA6-CC65-0EAC-CDF2138C0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196274-F97A-CF95-B19E-43D3DF420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C69F4BA-1201-C0D2-163D-0A14A09B4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42D6A5-6BF3-9A42-33CD-9DB15A785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F4F8C-1785-AC43-97F9-C9301BD933C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21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cademicBdlg.jp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459" y="207095"/>
            <a:ext cx="11663082" cy="645366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264459" y="2705301"/>
            <a:ext cx="118872" cy="1371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11808669" y="2705301"/>
            <a:ext cx="118872" cy="1371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</p:spPr>
        <p:txBody>
          <a:bodyPr>
            <a:normAutofit/>
          </a:bodyPr>
          <a:lstStyle>
            <a:lvl1pPr>
              <a:defRPr sz="7000" b="0">
                <a:solidFill>
                  <a:schemeClr val="bg1"/>
                </a:solidFill>
                <a:latin typeface="Tungsten Book" charset="0"/>
                <a:ea typeface="Tungsten Book" charset="0"/>
                <a:cs typeface="Tungsten Book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235390"/>
            <a:ext cx="8534400" cy="1189892"/>
          </a:xfrm>
        </p:spPr>
        <p:txBody>
          <a:bodyPr>
            <a:normAutofit/>
          </a:bodyPr>
          <a:lstStyle>
            <a:lvl1pPr marL="0" indent="0" algn="ctr">
              <a:buNone/>
              <a:defRPr sz="2800" i="1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9BCC98D3-195C-6884-730F-5935826391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65632" y="501650"/>
            <a:ext cx="1460736" cy="147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660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101601"/>
            <a:ext cx="7687733" cy="1143000"/>
          </a:xfrm>
        </p:spPr>
        <p:txBody>
          <a:bodyPr>
            <a:normAutofit/>
          </a:bodyPr>
          <a:lstStyle>
            <a:lvl1pPr algn="l">
              <a:defRPr sz="4800" b="0">
                <a:solidFill>
                  <a:schemeClr val="bg1"/>
                </a:solidFill>
                <a:latin typeface="Tungsten Book" charset="0"/>
                <a:ea typeface="Tungsten Book" charset="0"/>
                <a:cs typeface="Tungsten Book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78844"/>
            <a:ext cx="10972799" cy="4647321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7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69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54767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94022"/>
            <a:ext cx="5384800" cy="383214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94022"/>
            <a:ext cx="5384800" cy="383214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59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66704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307098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46861"/>
            <a:ext cx="5386917" cy="3179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8" y="2307098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8" y="2946861"/>
            <a:ext cx="5389033" cy="3179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572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PSCwall.psd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938" y="208038"/>
            <a:ext cx="11672125" cy="6441925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1060470" y="2093434"/>
            <a:ext cx="10071060" cy="2671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1060470" y="2742924"/>
            <a:ext cx="128016" cy="1371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11003514" y="2758222"/>
            <a:ext cx="128016" cy="1371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9616" y="2872522"/>
            <a:ext cx="9192768" cy="1143000"/>
          </a:xfrm>
        </p:spPr>
        <p:txBody>
          <a:bodyPr>
            <a:normAutofit/>
          </a:bodyPr>
          <a:lstStyle>
            <a:lvl1pPr>
              <a:defRPr sz="4800" b="0" i="0">
                <a:solidFill>
                  <a:srgbClr val="500000"/>
                </a:solidFill>
                <a:latin typeface="Tungsten Medium" charset="0"/>
                <a:ea typeface="Tungsten Medium" charset="0"/>
                <a:cs typeface="Tungsten Medium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6" name="Picture 15" descr="TAM-LogoBox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4468" y="1424596"/>
            <a:ext cx="1303064" cy="130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26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7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1" y="1171075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71075"/>
            <a:ext cx="6815667" cy="495509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1" y="2406317"/>
            <a:ext cx="4011084" cy="37198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7060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06905"/>
            <a:ext cx="7315200" cy="36206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3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50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10785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341588"/>
            <a:ext cx="10972800" cy="37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4CE51-D15A-BB47-9138-751D578D2580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hape 461"/>
          <p:cNvSpPr/>
          <p:nvPr userDrawn="1"/>
        </p:nvSpPr>
        <p:spPr>
          <a:xfrm>
            <a:off x="203205" y="6575107"/>
            <a:ext cx="9400417" cy="0"/>
          </a:xfrm>
          <a:prstGeom prst="line">
            <a:avLst/>
          </a:prstGeom>
          <a:ln w="12700">
            <a:solidFill>
              <a:srgbClr val="E4002B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>
              <a:ln w="3175" cmpd="sng">
                <a:solidFill>
                  <a:srgbClr val="000000"/>
                </a:solidFill>
              </a:ln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363C6C3-682C-22BE-D6D0-9DB2684C8D9E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81000" y="269445"/>
            <a:ext cx="114300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668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6000" b="0" i="0" kern="1200" spc="100" baseline="0">
          <a:solidFill>
            <a:schemeClr val="tx1"/>
          </a:solidFill>
          <a:latin typeface="Tungsten Medium" charset="0"/>
          <a:ea typeface="Tungsten Medium" charset="0"/>
          <a:cs typeface="Tungsten Medium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ongzl@tamu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ucidchart.com/" TargetMode="External"/><Relationship Id="rId3" Type="http://schemas.openxmlformats.org/officeDocument/2006/relationships/hyperlink" Target="https://pro.arcgis.com/en/pro-app/latest/tool-reference/spatial-analyst/euclidean-distance.htm" TargetMode="External"/><Relationship Id="rId7" Type="http://schemas.openxmlformats.org/officeDocument/2006/relationships/hyperlink" Target="https://pro.arcgis.com/en/pro-app/latest/tool-reference/spatial-analyst/weighted-overlay.htm" TargetMode="External"/><Relationship Id="rId2" Type="http://schemas.openxmlformats.org/officeDocument/2006/relationships/hyperlink" Target="https://pro.arcgis.com/en/pro-app/latest/tool-reference/spatial-analyst/raster-calculator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o.arcgis.com/en/pro-app/latest/tool-reference/conversion/raster-to-polygon.htm" TargetMode="External"/><Relationship Id="rId5" Type="http://schemas.openxmlformats.org/officeDocument/2006/relationships/hyperlink" Target="https://pro.arcgis.com/en/pro-app/latest/tool-reference/analysis/buffer.htm" TargetMode="External"/><Relationship Id="rId4" Type="http://schemas.openxmlformats.org/officeDocument/2006/relationships/hyperlink" Target="https://pro.arcgis.com/en/pro-app/latest/tool-reference/spatial-analyst/reclassify.htm" TargetMode="External"/><Relationship Id="rId9" Type="http://schemas.openxmlformats.org/officeDocument/2006/relationships/hyperlink" Target="https://app.diagrams.net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498918"/>
            <a:ext cx="10363200" cy="1470025"/>
          </a:xfrm>
        </p:spPr>
        <p:txBody>
          <a:bodyPr>
            <a:noAutofit/>
          </a:bodyPr>
          <a:lstStyle/>
          <a:p>
            <a:r>
              <a:rPr lang="en-US" sz="4400" dirty="0">
                <a:latin typeface="HarmonyOS Sans Medium" panose="00000600000000000000" pitchFamily="2" charset="0"/>
              </a:rPr>
              <a:t>GEOG 475 Advanced GIS</a:t>
            </a:r>
            <a:br>
              <a:rPr lang="en-US" sz="4400" dirty="0">
                <a:latin typeface="HarmonyOS Sans Medium" panose="00000600000000000000" pitchFamily="2" charset="0"/>
              </a:rPr>
            </a:br>
            <a:r>
              <a:rPr lang="en-US" sz="4400" dirty="0">
                <a:latin typeface="HarmonyOS Sans Medium" panose="00000600000000000000" pitchFamily="2" charset="0"/>
              </a:rPr>
              <a:t>Lab4</a:t>
            </a:r>
            <a:endParaRPr lang="en-US" sz="4800" dirty="0">
              <a:latin typeface="HarmonyOS Sans Medium" panose="000006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>
                <a:latin typeface="HarmonyOS Sans Medium" panose="00000600000000000000" pitchFamily="2" charset="0"/>
              </a:rPr>
              <a:t>Zhenlei Song, </a:t>
            </a:r>
            <a:r>
              <a:rPr lang="en-US" altLang="zh-CN" dirty="0" err="1">
                <a:latin typeface="HarmonyOS Sans Medium" panose="00000600000000000000" pitchFamily="2" charset="0"/>
              </a:rPr>
              <a:t>Ph.D</a:t>
            </a:r>
            <a:r>
              <a:rPr lang="en-US" altLang="zh-CN" dirty="0">
                <a:latin typeface="HarmonyOS Sans Medium" panose="00000600000000000000" pitchFamily="2" charset="0"/>
              </a:rPr>
              <a:t> Student</a:t>
            </a:r>
            <a:endParaRPr lang="en-US" dirty="0">
              <a:latin typeface="HarmonyOS Sans Medium" panose="00000600000000000000" pitchFamily="2" charset="0"/>
            </a:endParaRPr>
          </a:p>
          <a:p>
            <a:r>
              <a:rPr lang="en-US" dirty="0">
                <a:latin typeface="HarmonyOS Sans Medium" panose="00000600000000000000" pitchFamily="2" charset="0"/>
              </a:rPr>
              <a:t>Department of Geography</a:t>
            </a:r>
          </a:p>
          <a:p>
            <a:r>
              <a:rPr lang="en-US" dirty="0">
                <a:latin typeface="HarmonyOS Sans Medium" panose="00000600000000000000" pitchFamily="2" charset="0"/>
              </a:rPr>
              <a:t>Email: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HarmonyOS Sans Medium" panose="000006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songzl@tamu.edu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HarmonyOS Sans Medium" panose="00000600000000000000" pitchFamily="2" charset="0"/>
            </a:endParaRPr>
          </a:p>
          <a:p>
            <a:r>
              <a:rPr lang="en-US" dirty="0">
                <a:latin typeface="HarmonyOS Sans Medium" panose="00000600000000000000" pitchFamily="2" charset="0"/>
              </a:rPr>
              <a:t>Office: CSA 301F</a:t>
            </a:r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082717" y="3968943"/>
            <a:ext cx="4026569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695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DC94A1-7120-7802-6B76-22320706A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101601"/>
            <a:ext cx="8276330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Multi-Criteria Decision Making</a:t>
            </a:r>
            <a:endParaRPr lang="zh-CN" altLang="en-US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F8535CF-2D3A-D3DC-BEBA-13FF629F5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72" y="2100953"/>
            <a:ext cx="3397425" cy="321961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BA8B433-D7F8-7B90-E60D-1B353342A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63919"/>
            <a:ext cx="3965016" cy="449368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5CBC300-6C10-5D3B-CEC0-1AC03446E528}"/>
              </a:ext>
            </a:extLst>
          </p:cNvPr>
          <p:cNvSpPr txBox="1"/>
          <p:nvPr/>
        </p:nvSpPr>
        <p:spPr>
          <a:xfrm>
            <a:off x="6096000" y="5972946"/>
            <a:ext cx="435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Song, Z., Chapman, P., Tao, J., Chang, P., Gao, H., Liu, H., … Zhang, Z. (2024). Mapping the Unheard: Analyzing Tradeoffs Between Fisheries and Offshore Wind Farms Using Multicriteria Decision Analysis. </a:t>
            </a:r>
            <a:r>
              <a:rPr lang="en-US" altLang="zh-CN" sz="800" b="0" i="1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Annals of the American Association of Geographers</a:t>
            </a:r>
            <a:r>
              <a:rPr lang="en-US" altLang="zh-CN" sz="8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 </a:t>
            </a:r>
            <a:r>
              <a:rPr lang="en-US" altLang="zh-CN" sz="800" b="0" i="1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114</a:t>
            </a:r>
            <a:r>
              <a:rPr lang="en-US" altLang="zh-CN" sz="8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(3), 536–554. https://doi.org/10.1080/24694452.2023.2285371</a:t>
            </a:r>
            <a:endParaRPr lang="zh-CN" altLang="en-US" sz="800" dirty="0"/>
          </a:p>
        </p:txBody>
      </p:sp>
    </p:spTree>
    <p:extLst>
      <p:ext uri="{BB962C8B-B14F-4D97-AF65-F5344CB8AC3E}">
        <p14:creationId xmlns:p14="http://schemas.microsoft.com/office/powerpoint/2010/main" val="23233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EB6D6-64D0-E98F-AA88-FB57A9BB1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1BDF33-C87C-1EE2-C9D0-6BBD53B15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101601"/>
            <a:ext cx="8276330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Multi-Criteria Decision Making</a:t>
            </a:r>
            <a:endParaRPr lang="zh-CN" altLang="en-US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E753DF1-E8BD-CE65-891C-8C032F58BED7}"/>
                  </a:ext>
                </a:extLst>
              </p:cNvPr>
              <p:cNvSpPr txBox="1"/>
              <p:nvPr/>
            </p:nvSpPr>
            <p:spPr>
              <a:xfrm>
                <a:off x="643466" y="1590918"/>
                <a:ext cx="7375119" cy="4584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2000" dirty="0">
                    <a:latin typeface="HarmonyOS Sans SC" panose="00000500000000000000" pitchFamily="2" charset="-122"/>
                    <a:ea typeface="HarmonyOS Sans SC" panose="00000500000000000000" pitchFamily="2" charset="-122"/>
                  </a:rPr>
                  <a:t>Weighted Sum Method (WSM)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𝑊𝑆𝑀</m:t>
                          </m:r>
                        </m:sup>
                      </m:sSubSup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000" dirty="0">
                  <a:latin typeface="HarmonyOS Sans SC" panose="00000500000000000000" pitchFamily="2" charset="-122"/>
                  <a:ea typeface="HarmonyOS Sans SC" panose="00000500000000000000" pitchFamily="2" charset="-122"/>
                </a:endParaRPr>
              </a:p>
              <a:p>
                <a:pPr algn="just"/>
                <a:endParaRPr lang="en-US" altLang="zh-CN" sz="2000" dirty="0">
                  <a:latin typeface="HarmonyOS Sans SC" panose="00000500000000000000" pitchFamily="2" charset="-122"/>
                  <a:ea typeface="HarmonyOS Sans SC" panose="00000500000000000000" pitchFamily="2" charset="-122"/>
                </a:endParaRPr>
              </a:p>
              <a:p>
                <a:pPr algn="just"/>
                <a:r>
                  <a:rPr lang="en-US" altLang="zh-CN" sz="2000" dirty="0">
                    <a:latin typeface="HarmonyOS Sans SC" panose="00000500000000000000" pitchFamily="2" charset="-122"/>
                    <a:ea typeface="HarmonyOS Sans SC" panose="00000500000000000000" pitchFamily="2" charset="-122"/>
                  </a:rPr>
                  <a:t>Weighted Product Method (WPM)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𝑊𝑃𝑀</m:t>
                          </m:r>
                        </m:sup>
                      </m:sSubSup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sup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000" dirty="0">
                  <a:latin typeface="HarmonyOS Sans SC" panose="00000500000000000000" pitchFamily="2" charset="-122"/>
                  <a:ea typeface="HarmonyOS Sans SC" panose="00000500000000000000" pitchFamily="2" charset="-122"/>
                </a:endParaRPr>
              </a:p>
              <a:p>
                <a:pPr algn="just"/>
                <a:endParaRPr lang="en-US" altLang="zh-CN" sz="2000" dirty="0">
                  <a:latin typeface="HarmonyOS Sans SC" panose="00000500000000000000" pitchFamily="2" charset="-122"/>
                  <a:ea typeface="HarmonyOS Sans SC" panose="00000500000000000000" pitchFamily="2" charset="-122"/>
                </a:endParaRPr>
              </a:p>
              <a:p>
                <a:pPr algn="just"/>
                <a:r>
                  <a:rPr lang="en-US" altLang="zh-CN" sz="2000" dirty="0">
                    <a:latin typeface="HarmonyOS Sans SC" panose="00000500000000000000" pitchFamily="2" charset="-122"/>
                    <a:ea typeface="HarmonyOS Sans SC" panose="00000500000000000000" pitchFamily="2" charset="-122"/>
                  </a:rPr>
                  <a:t>Weighted Aggregated Sum Product Assessment (WASPAS)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𝑊𝐴𝑆𝑃𝐴𝑆</m:t>
                          </m:r>
                        </m:sup>
                      </m:sSubSup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𝜆</m:t>
                      </m:r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𝑊𝑆𝑀</m:t>
                          </m:r>
                        </m:sup>
                      </m:sSubSup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𝑊𝑃𝑀</m:t>
                          </m:r>
                        </m:sup>
                      </m:sSubSup>
                    </m:oMath>
                  </m:oMathPara>
                </a14:m>
                <a:endParaRPr lang="en-US" altLang="zh-CN" sz="2000" dirty="0">
                  <a:latin typeface="HarmonyOS Sans SC" panose="00000500000000000000" pitchFamily="2" charset="-122"/>
                  <a:ea typeface="HarmonyOS Sans SC" panose="00000500000000000000" pitchFamily="2" charset="-122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nary>
                        <m:naryPr>
                          <m:chr m:val="∏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  <m:sup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000" dirty="0">
                  <a:latin typeface="HarmonyOS Sans SC" panose="00000500000000000000" pitchFamily="2" charset="-122"/>
                  <a:ea typeface="HarmonyOS Sans SC" panose="00000500000000000000" pitchFamily="2" charset="-122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E753DF1-E8BD-CE65-891C-8C032F58B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66" y="1590918"/>
                <a:ext cx="7375119" cy="4584973"/>
              </a:xfrm>
              <a:prstGeom prst="rect">
                <a:avLst/>
              </a:prstGeom>
              <a:blipFill>
                <a:blip r:embed="rId2"/>
                <a:stretch>
                  <a:fillRect l="-910" t="-7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94BE18-83EC-C4DF-B55C-1FD483F0212D}"/>
                  </a:ext>
                </a:extLst>
              </p:cNvPr>
              <p:cNvSpPr txBox="1"/>
              <p:nvPr/>
            </p:nvSpPr>
            <p:spPr>
              <a:xfrm>
                <a:off x="8062546" y="2664069"/>
                <a:ext cx="3736731" cy="2906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HarmonyOS Sans SC" panose="00000500000000000000" pitchFamily="2" charset="-122"/>
                    <a:ea typeface="HarmonyOS Sans SC" panose="00000500000000000000" pitchFamily="2" charset="-122"/>
                  </a:rPr>
                  <a:t>Where:</a:t>
                </a:r>
              </a:p>
              <a:p>
                <a:endParaRPr lang="en-US" altLang="zh-CN" dirty="0">
                  <a:latin typeface="HarmonyOS Sans SC" panose="00000500000000000000" pitchFamily="2" charset="-122"/>
                  <a:ea typeface="HarmonyOS Sans SC" panose="00000500000000000000" pitchFamily="2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80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8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>
                    <a:latin typeface="HarmonyOS Sans SC" panose="00000500000000000000" pitchFamily="2" charset="-122"/>
                    <a:ea typeface="HarmonyOS Sans SC" panose="00000500000000000000" pitchFamily="2" charset="-122"/>
                  </a:rPr>
                  <a:t> </a:t>
                </a:r>
                <a:r>
                  <a:rPr lang="en-US" altLang="zh-CN" dirty="0"/>
                  <a:t>represents the weight for the j-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criteria in the </a:t>
                </a:r>
                <a:r>
                  <a:rPr lang="en-US" altLang="zh-CN" dirty="0" err="1"/>
                  <a:t>i-th</a:t>
                </a:r>
                <a:r>
                  <a:rPr lang="en-US" altLang="zh-CN" dirty="0"/>
                  <a:t> decision alternative;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>
                    <a:latin typeface="HarmonyOS Sans SC" panose="00000500000000000000" pitchFamily="2" charset="-122"/>
                    <a:ea typeface="HarmonyOS Sans SC" panose="00000500000000000000" pitchFamily="2" charset="-122"/>
                  </a:rPr>
                  <a:t> </a:t>
                </a:r>
                <a:r>
                  <a:rPr lang="en-US" altLang="zh-CN" dirty="0"/>
                  <a:t>represents the data value of the j-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column (attribute);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HarmonyOS Sans SC" panose="00000500000000000000" pitchFamily="2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HarmonyOS Sans SC" panose="00000500000000000000" pitchFamily="2" charset="-122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HarmonyOS Sans SC" panose="00000500000000000000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HarmonyOS Sans SC" panose="00000500000000000000" pitchFamily="2" charset="-122"/>
                    <a:ea typeface="HarmonyOS Sans SC" panose="00000500000000000000" pitchFamily="2" charset="-122"/>
                  </a:rPr>
                  <a:t> </a:t>
                </a:r>
                <a:r>
                  <a:rPr lang="en-US" altLang="zh-CN" dirty="0"/>
                  <a:t>represents the score for the </a:t>
                </a:r>
                <a:r>
                  <a:rPr lang="en-US" altLang="zh-CN" dirty="0" err="1"/>
                  <a:t>ith</a:t>
                </a:r>
                <a:r>
                  <a:rPr lang="en-US" altLang="zh-CN" dirty="0"/>
                  <a:t> decision alternative.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zh-CN" altLang="en-US" dirty="0">
                  <a:latin typeface="HarmonyOS Sans SC" panose="00000500000000000000" pitchFamily="2" charset="-122"/>
                  <a:ea typeface="HarmonyOS Sans SC" panose="00000500000000000000" pitchFamily="2" charset="-122"/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94BE18-83EC-C4DF-B55C-1FD483F02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2546" y="2664069"/>
                <a:ext cx="3736731" cy="2906950"/>
              </a:xfrm>
              <a:prstGeom prst="rect">
                <a:avLst/>
              </a:prstGeom>
              <a:blipFill>
                <a:blip r:embed="rId3"/>
                <a:stretch>
                  <a:fillRect l="-1468" t="-1048" r="-16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084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56834-6BE2-B6DF-D591-F3D42ED6A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87E0E-F0DB-5C18-F1AC-815450114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Data Source - DEM</a:t>
            </a:r>
            <a:endParaRPr lang="zh-CN" altLang="en-US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5" name="内容占位符 4" descr="图片包含 照片, 看着, 猫, 关&#10;&#10;AI 生成的内容可能不正确。">
            <a:extLst>
              <a:ext uri="{FF2B5EF4-FFF2-40B4-BE49-F238E27FC236}">
                <a16:creationId xmlns:a16="http://schemas.microsoft.com/office/drawing/2014/main" id="{7085710D-FC6C-9D7A-50D9-851B5BC631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12238" y="1479550"/>
            <a:ext cx="3767524" cy="4646613"/>
          </a:xfrm>
        </p:spPr>
      </p:pic>
    </p:spTree>
    <p:extLst>
      <p:ext uri="{BB962C8B-B14F-4D97-AF65-F5344CB8AC3E}">
        <p14:creationId xmlns:p14="http://schemas.microsoft.com/office/powerpoint/2010/main" val="474445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BCD47-CA90-95EA-B54E-0FD6941B0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0BE18D-31B3-C092-1749-777E3E6C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Data Source - NDVI</a:t>
            </a:r>
            <a:endParaRPr lang="zh-CN" altLang="en-US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7" name="内容占位符 6" descr="黑白照片中的树林&#10;&#10;AI 生成的内容可能不正确。">
            <a:extLst>
              <a:ext uri="{FF2B5EF4-FFF2-40B4-BE49-F238E27FC236}">
                <a16:creationId xmlns:a16="http://schemas.microsoft.com/office/drawing/2014/main" id="{C558B44E-CF74-DB2D-B7A5-ECA257539C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2818" y="1479550"/>
            <a:ext cx="3886364" cy="4646613"/>
          </a:xfrm>
        </p:spPr>
      </p:pic>
    </p:spTree>
    <p:extLst>
      <p:ext uri="{BB962C8B-B14F-4D97-AF65-F5344CB8AC3E}">
        <p14:creationId xmlns:p14="http://schemas.microsoft.com/office/powerpoint/2010/main" val="2713706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3EAE3-17FC-047A-1AD5-6B2DBA985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047E02-37EA-AD95-D51D-23871CB5B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101601"/>
            <a:ext cx="8412611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Data Source – Road Network</a:t>
            </a:r>
            <a:endParaRPr lang="zh-CN" altLang="en-US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7" name="内容占位符 6" descr="地图&#10;&#10;AI 生成的内容可能不正确。">
            <a:extLst>
              <a:ext uri="{FF2B5EF4-FFF2-40B4-BE49-F238E27FC236}">
                <a16:creationId xmlns:a16="http://schemas.microsoft.com/office/drawing/2014/main" id="{5B2C3F98-2A89-BD7D-4EC4-3374E927C5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9273" y="1479550"/>
            <a:ext cx="3793454" cy="4646613"/>
          </a:xfrm>
        </p:spPr>
      </p:pic>
    </p:spTree>
    <p:extLst>
      <p:ext uri="{BB962C8B-B14F-4D97-AF65-F5344CB8AC3E}">
        <p14:creationId xmlns:p14="http://schemas.microsoft.com/office/powerpoint/2010/main" val="1593052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1EE81-9C90-9778-ABB7-A5519690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1015C-5772-2D88-1CC7-941594512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101601"/>
            <a:ext cx="8412611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Data Source – River Network</a:t>
            </a:r>
            <a:endParaRPr lang="zh-CN" altLang="en-US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6" name="内容占位符 5" descr="地图&#10;&#10;AI 生成的内容可能不正确。">
            <a:extLst>
              <a:ext uri="{FF2B5EF4-FFF2-40B4-BE49-F238E27FC236}">
                <a16:creationId xmlns:a16="http://schemas.microsoft.com/office/drawing/2014/main" id="{DA9D9C02-9E06-D9A8-ABE6-3B3E987ADA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8168" y="1479550"/>
            <a:ext cx="3975664" cy="4646613"/>
          </a:xfrm>
        </p:spPr>
      </p:pic>
    </p:spTree>
    <p:extLst>
      <p:ext uri="{BB962C8B-B14F-4D97-AF65-F5344CB8AC3E}">
        <p14:creationId xmlns:p14="http://schemas.microsoft.com/office/powerpoint/2010/main" val="2719192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27853-1C2E-155A-7266-C5070CD33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5C5B96-18AB-262E-46CD-B3E84B14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armonyOS Sans Medium" panose="00000600000000000000" pitchFamily="2" charset="0"/>
              </a:rPr>
              <a:t>Flowchart</a:t>
            </a:r>
            <a:endParaRPr lang="zh-CN" altLang="en-US" dirty="0">
              <a:latin typeface="HarmonyOS Sans Medium" panose="00000600000000000000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AA01A7-3A2D-763C-1715-AA966250FDD9}"/>
              </a:ext>
            </a:extLst>
          </p:cNvPr>
          <p:cNvSpPr txBox="1"/>
          <p:nvPr/>
        </p:nvSpPr>
        <p:spPr>
          <a:xfrm>
            <a:off x="2440598" y="3136612"/>
            <a:ext cx="73108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Maple Mono NF CN ExtraBold" panose="020F0509060000000000" pitchFamily="49" charset="-128"/>
                <a:ea typeface="Maple Mono NF CN ExtraBold" panose="020F0509060000000000" pitchFamily="49" charset="-128"/>
              </a:rPr>
              <a:t>It’s your job this time.</a:t>
            </a:r>
            <a:endParaRPr lang="zh-CN" altLang="en-US" sz="3200" dirty="0">
              <a:latin typeface="Maple Mono NF CN ExtraBold" panose="020F0509060000000000" pitchFamily="49" charset="-128"/>
              <a:ea typeface="Maple Mono NF CN ExtraBold" panose="020F050906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3915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5A6C9-7550-5016-35B4-330634C0A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D7871E-7C84-5084-322E-C3287D6F7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101601"/>
            <a:ext cx="8412611" cy="114300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Criteria – Flood Map</a:t>
            </a:r>
            <a:endParaRPr lang="zh-CN" altLang="en-US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FE8467-1EEE-43F3-8BB5-66BA8E4AD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6" y="1893118"/>
            <a:ext cx="4977912" cy="4284177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From DEM: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Set an </a:t>
            </a:r>
            <a:r>
              <a:rPr lang="en-US" altLang="zh-CN" sz="2400" dirty="0">
                <a:solidFill>
                  <a:srgbClr val="00B0F0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elevation threshold</a:t>
            </a:r>
            <a:r>
              <a:rPr lang="en-US" altLang="zh-CN" sz="2400" dirty="0">
                <a:solidFill>
                  <a:schemeClr val="tx1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, filter elevation below this gauge.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Tune</a:t>
            </a:r>
            <a:r>
              <a:rPr lang="en-US" altLang="zh-CN" sz="2400" dirty="0">
                <a:solidFill>
                  <a:schemeClr val="tx1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 with this threshold, until you get a proper </a:t>
            </a:r>
            <a:r>
              <a:rPr lang="en-US" altLang="zh-CN" sz="2400" dirty="0">
                <a:solidFill>
                  <a:srgbClr val="FFC000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flood map </a:t>
            </a:r>
            <a:r>
              <a:rPr lang="en-US" altLang="zh-CN" sz="2400" dirty="0">
                <a:solidFill>
                  <a:schemeClr val="tx1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(binary).</a:t>
            </a:r>
          </a:p>
          <a:p>
            <a:endParaRPr lang="en-US" altLang="zh-CN" dirty="0">
              <a:solidFill>
                <a:schemeClr val="tx1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From River Network: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Set a buffer radius, which is the width of the banks when flooding occurs.</a:t>
            </a:r>
          </a:p>
          <a:p>
            <a:endParaRPr lang="en-US" altLang="zh-CN" sz="2400" dirty="0">
              <a:solidFill>
                <a:schemeClr val="tx1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r>
              <a:rPr lang="en-US" altLang="zh-CN" sz="3500" dirty="0">
                <a:solidFill>
                  <a:schemeClr val="tx1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Intersect the 2 layers</a:t>
            </a:r>
            <a:endParaRPr lang="zh-CN" altLang="en-US" sz="2600" dirty="0">
              <a:solidFill>
                <a:schemeClr val="tx1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62A0851-5C84-5E23-A73E-3ECB24AC0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053" y="1301262"/>
            <a:ext cx="4352047" cy="521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2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C4A2F-788D-389C-2B97-9009D5F8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48FA01-85DC-6FC4-9000-7354D92B6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101601"/>
            <a:ext cx="8412611" cy="114300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Criteria – Flood Map</a:t>
            </a:r>
            <a:endParaRPr lang="zh-CN" altLang="en-US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1B32528-BC38-CFCB-91A6-029EC64A6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900" y="1362808"/>
            <a:ext cx="4131374" cy="50982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41EA5F5-7DDF-E2E0-C215-B58AF6CCD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728" y="1362808"/>
            <a:ext cx="4127656" cy="509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55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0B6A2-9B46-15F0-8929-CD5B2BA18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A7257F-D0B5-DEBB-6EB5-A263FF629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101601"/>
            <a:ext cx="8412611" cy="114300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Criteria – Vegetation</a:t>
            </a:r>
            <a:endParaRPr lang="zh-CN" altLang="en-US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3D38F48-8FE2-0A4E-0ECC-AEF486B37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129" y="1332034"/>
            <a:ext cx="4259071" cy="513470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0707331-6495-5886-70C9-4C440EBEB74D}"/>
              </a:ext>
            </a:extLst>
          </p:cNvPr>
          <p:cNvSpPr txBox="1"/>
          <p:nvPr/>
        </p:nvSpPr>
        <p:spPr>
          <a:xfrm>
            <a:off x="6096000" y="2914503"/>
            <a:ext cx="53721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From </a:t>
            </a:r>
            <a:r>
              <a:rPr lang="en-US" altLang="zh-CN" sz="3200" dirty="0">
                <a:solidFill>
                  <a:srgbClr val="92D050"/>
                </a:solidFill>
              </a:rPr>
              <a:t>NDVI</a:t>
            </a:r>
            <a:r>
              <a:rPr lang="en-US" altLang="zh-CN" sz="3200" dirty="0"/>
              <a:t>: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Reclassify it into </a:t>
            </a:r>
            <a:r>
              <a:rPr lang="en-US" altLang="zh-CN" sz="2400" b="1" dirty="0">
                <a:solidFill>
                  <a:srgbClr val="FF0000"/>
                </a:solidFill>
              </a:rPr>
              <a:t>6</a:t>
            </a:r>
            <a:r>
              <a:rPr lang="en-US" altLang="zh-CN" sz="2400" dirty="0"/>
              <a:t>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Be aware of the </a:t>
            </a:r>
            <a:r>
              <a:rPr lang="en-US" altLang="zh-CN" sz="2400" dirty="0">
                <a:solidFill>
                  <a:srgbClr val="FF0000"/>
                </a:solidFill>
              </a:rPr>
              <a:t>value meaning</a:t>
            </a:r>
            <a:r>
              <a:rPr lang="en-US" altLang="zh-CN" sz="2400" dirty="0"/>
              <a:t>!!!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Should you prefer higher or lower value of this criteria?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96383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2D8C3-46B2-DA61-B1A8-B544EB4D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3F616E-EB81-21C1-CDBB-44E158895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101601"/>
            <a:ext cx="8412611" cy="114300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Criteria – Road Accessibility</a:t>
            </a:r>
            <a:endParaRPr lang="zh-CN" altLang="en-US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C9C2316-E2A7-FB5F-C82E-F10F4A816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755" y="1367205"/>
            <a:ext cx="4299942" cy="507755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1DCA4CC-D3FA-6349-E4CF-0525885C9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305" y="1367205"/>
            <a:ext cx="4391330" cy="507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322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26451-D5AD-7D31-2DDE-6175B5D68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7E4A5D-AD6F-0306-8699-FEDF7B1C2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101601"/>
            <a:ext cx="8412611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Criteria – Campus Accessibility</a:t>
            </a:r>
            <a:endParaRPr lang="zh-CN" altLang="en-US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043A0D-5147-480B-185D-09AD7EB03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946" y="1332035"/>
            <a:ext cx="4405827" cy="513910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8005924-3F60-2DC0-C379-513D350BD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229" y="1332035"/>
            <a:ext cx="4341550" cy="513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786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69E21-42CB-9E6C-E8CC-4C2BCCCAC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54C386-6467-30DF-2586-C4482AFF7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101601"/>
            <a:ext cx="8412611" cy="114300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Weighted Sum</a:t>
            </a:r>
            <a:endParaRPr lang="zh-CN" altLang="en-US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B40EA04-C9E1-9AA9-000E-E7533D1F0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97" y="1683726"/>
            <a:ext cx="3472559" cy="421151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B587A56-516A-689C-0D6E-8A8042162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685" y="1683726"/>
            <a:ext cx="4811242" cy="421151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DCD8E8D-2335-D74A-BC22-E0BD70D2499D}"/>
              </a:ext>
            </a:extLst>
          </p:cNvPr>
          <p:cNvSpPr txBox="1"/>
          <p:nvPr/>
        </p:nvSpPr>
        <p:spPr>
          <a:xfrm>
            <a:off x="1617785" y="3494942"/>
            <a:ext cx="10155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Try different weights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1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148D2-7857-AD65-4D51-98B8B9120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0A4B4-D95A-E5A4-41D8-998111D9D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101601"/>
            <a:ext cx="7687733" cy="1143000"/>
          </a:xfrm>
        </p:spPr>
        <p:txBody>
          <a:bodyPr anchor="ctr">
            <a:normAutofit/>
          </a:bodyPr>
          <a:lstStyle/>
          <a:p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Tools</a:t>
            </a:r>
            <a:endParaRPr lang="zh-CN" altLang="en-US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DB5F90-5581-0989-A712-F640DBEE5CCA}"/>
              </a:ext>
            </a:extLst>
          </p:cNvPr>
          <p:cNvSpPr txBox="1"/>
          <p:nvPr/>
        </p:nvSpPr>
        <p:spPr>
          <a:xfrm>
            <a:off x="1230923" y="1745274"/>
            <a:ext cx="10251831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In ArcGIS Pro:</a:t>
            </a:r>
          </a:p>
          <a:p>
            <a:endParaRPr lang="en-US" altLang="zh-CN" sz="2400" b="1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Raster Calculator:  </a:t>
            </a: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  <a:hlinkClick r:id="rId2"/>
              </a:rPr>
              <a:t>Documentation</a:t>
            </a:r>
            <a:endParaRPr lang="en-US" altLang="zh-CN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Euclidean Distance: </a:t>
            </a: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  <a:hlinkClick r:id="rId3"/>
              </a:rPr>
              <a:t>Documentation</a:t>
            </a:r>
            <a:endParaRPr lang="en-US" altLang="zh-CN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Reclassify: </a:t>
            </a: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  <a:hlinkClick r:id="rId4"/>
              </a:rPr>
              <a:t>Documentation</a:t>
            </a:r>
            <a:endParaRPr lang="en-US" altLang="zh-CN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Buffer: </a:t>
            </a: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  <a:hlinkClick r:id="rId5"/>
              </a:rPr>
              <a:t>Documentation</a:t>
            </a:r>
            <a:endParaRPr lang="en-US" altLang="zh-CN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Raster to Polygon: </a:t>
            </a: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  <a:hlinkClick r:id="rId6"/>
              </a:rPr>
              <a:t>Documentation</a:t>
            </a:r>
            <a:endParaRPr lang="en-US" altLang="zh-CN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pPr marL="285750" indent="-2857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Weighted Overlay: </a:t>
            </a: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  <a:hlinkClick r:id="rId7"/>
              </a:rPr>
              <a:t>Documentation</a:t>
            </a:r>
            <a:endParaRPr lang="en-US" altLang="zh-CN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endParaRPr lang="en-US" altLang="zh-CN" dirty="0"/>
          </a:p>
          <a:p>
            <a:r>
              <a:rPr lang="en-US" altLang="zh-CN" sz="2400" b="1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To draw flowcharts:</a:t>
            </a:r>
          </a:p>
          <a:p>
            <a:endParaRPr lang="en-US" altLang="zh-CN" sz="2400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  <a:hlinkClick r:id="rId8"/>
              </a:rPr>
              <a:t>LucidChart</a:t>
            </a:r>
            <a:endParaRPr lang="en-US" altLang="zh-CN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  <a:hlinkClick r:id="rId9"/>
              </a:rPr>
              <a:t>Draw.io</a:t>
            </a:r>
            <a:endParaRPr lang="zh-CN" altLang="en-US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2136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5ABA4-F149-9768-363D-BB0BF34F3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D3B0AC-4CFF-87DF-0BC7-66F6560C1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101601"/>
            <a:ext cx="7687733" cy="1143000"/>
          </a:xfrm>
        </p:spPr>
        <p:txBody>
          <a:bodyPr anchor="ctr">
            <a:normAutofit/>
          </a:bodyPr>
          <a:lstStyle/>
          <a:p>
            <a:r>
              <a:rPr lang="en-US" altLang="zh-CN" dirty="0">
                <a:latin typeface="HarmonyOS Sans SC" panose="00000500000000000000" pitchFamily="2" charset="-122"/>
                <a:ea typeface="HarmonyOS Sans SC" panose="00000500000000000000" pitchFamily="2" charset="-122"/>
              </a:rPr>
              <a:t>Expr Questions</a:t>
            </a:r>
            <a:endParaRPr lang="zh-CN" altLang="en-US" dirty="0"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3601DAD-2585-A73E-ED0C-E4C319A59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15437"/>
            <a:ext cx="10972799" cy="33741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24091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B390DE-D060-22DB-AA7A-8905416D2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HarmonyOS Sans Medium" panose="00000600000000000000" pitchFamily="2" charset="0"/>
              </a:rPr>
              <a:t>Submission</a:t>
            </a:r>
            <a:endParaRPr lang="zh-CN" altLang="en-US" dirty="0">
              <a:latin typeface="HarmonyOS Sans Medium" panose="00000600000000000000" pitchFamily="2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E9B4DE-C9FC-BE72-B30E-346385FE5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003" y="1493528"/>
            <a:ext cx="7939994" cy="4800685"/>
          </a:xfrm>
        </p:spPr>
        <p:txBody>
          <a:bodyPr>
            <a:normAutofit lnSpcReduction="10000"/>
          </a:bodyPr>
          <a:lstStyle/>
          <a:p>
            <a:pPr lvl="1"/>
            <a:r>
              <a:rPr lang="en-US" altLang="zh-CN" sz="2400" dirty="0">
                <a:solidFill>
                  <a:schemeClr val="tx1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rPr>
              <a:t>A .doc/docx file includes:</a:t>
            </a:r>
          </a:p>
          <a:p>
            <a:pPr lvl="1"/>
            <a:endParaRPr lang="en-US" altLang="zh-CN" sz="2400" dirty="0">
              <a:solidFill>
                <a:schemeClr val="tx1"/>
              </a:solidFill>
              <a:latin typeface="HarmonyOS Sans SC Medium" panose="00000600000000000000" pitchFamily="2" charset="-122"/>
              <a:ea typeface="HarmonyOS Sans SC Medium" panose="00000600000000000000" pitchFamily="2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B0F0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rPr>
              <a:t>Contexts</a:t>
            </a:r>
            <a:r>
              <a:rPr lang="en-US" altLang="zh-CN" sz="2400" dirty="0">
                <a:solidFill>
                  <a:schemeClr val="tx1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rPr>
              <a:t> and </a:t>
            </a:r>
            <a:r>
              <a:rPr lang="en-US" altLang="zh-CN" sz="2400" dirty="0">
                <a:solidFill>
                  <a:srgbClr val="00B050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rPr>
              <a:t>necessary screenshots </a:t>
            </a:r>
            <a:r>
              <a:rPr lang="en-US" altLang="zh-CN" sz="2400" dirty="0">
                <a:solidFill>
                  <a:schemeClr val="tx1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rPr>
              <a:t>(with captions) to prove you completed all required steps.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1"/>
              </a:solidFill>
              <a:latin typeface="HarmonyOS Sans SC Medium" panose="00000600000000000000" pitchFamily="2" charset="-122"/>
              <a:ea typeface="HarmonyOS Sans SC Medium" panose="00000600000000000000" pitchFamily="2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7030A0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rPr>
              <a:t>Comparisons</a:t>
            </a:r>
            <a:r>
              <a:rPr lang="en-US" altLang="zh-CN" sz="2400" dirty="0">
                <a:solidFill>
                  <a:schemeClr val="tx1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rPr>
              <a:t> of performances with different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rPr>
              <a:t>algorithms and parameter settings</a:t>
            </a:r>
            <a:r>
              <a:rPr lang="en-US" altLang="zh-CN" sz="2400" dirty="0">
                <a:solidFill>
                  <a:schemeClr val="tx1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rPr>
              <a:t>. Describe what changes did you make and what’s changed.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1"/>
              </a:solidFill>
              <a:latin typeface="HarmonyOS Sans SC Medium" panose="00000600000000000000" pitchFamily="2" charset="-122"/>
              <a:ea typeface="HarmonyOS Sans SC Medium" panose="00000600000000000000" pitchFamily="2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rPr>
              <a:t>Answer the </a:t>
            </a:r>
            <a:r>
              <a:rPr lang="en-US" altLang="zh-CN" sz="2400" dirty="0">
                <a:solidFill>
                  <a:srgbClr val="FF0000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rPr>
              <a:t>designated questions </a:t>
            </a:r>
            <a:r>
              <a:rPr lang="en-US" altLang="zh-CN" sz="2400" dirty="0">
                <a:solidFill>
                  <a:schemeClr val="tx1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rPr>
              <a:t>with </a:t>
            </a:r>
            <a:r>
              <a:rPr lang="en-US" altLang="zh-CN" sz="2400" b="1" dirty="0">
                <a:solidFill>
                  <a:schemeClr val="tx1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rPr>
              <a:t>YOUR OWN </a:t>
            </a:r>
            <a:r>
              <a:rPr lang="en-US" altLang="zh-CN" sz="2400" dirty="0">
                <a:solidFill>
                  <a:schemeClr val="tx1"/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rPr>
              <a:t>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073719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CED05-A51E-E083-D2EB-ABB2417E9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AE81E9-CDF7-940A-D8BC-0D93B02BD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HarmonyOS Sans Medium" panose="00000600000000000000" pitchFamily="2" charset="0"/>
              </a:rPr>
              <a:t>Grading Rule</a:t>
            </a:r>
            <a:endParaRPr lang="zh-CN" altLang="en-US" dirty="0">
              <a:latin typeface="HarmonyOS Sans Medium" panose="00000600000000000000" pitchFamily="2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C57A045-119E-9522-B6C1-4365FFEAF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57" y="1882695"/>
            <a:ext cx="10420886" cy="30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69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HarmonyOS Sans TC Medium" panose="00000600000000000000" pitchFamily="2" charset="-120"/>
                <a:ea typeface="HarmonyOS Sans TC Medium" panose="00000600000000000000" pitchFamily="2" charset="-12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714915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roon-template-16.9-tungsten copy.pptx" id="{B69B70B2-75E6-9F41-A618-976478E1B107}" vid="{12E40A26-4716-A142-B24E-D4A7A79A7C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7657</TotalTime>
  <Words>404</Words>
  <Application>Microsoft Office PowerPoint</Application>
  <PresentationFormat>宽屏</PresentationFormat>
  <Paragraphs>74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HarmonyOS Sans SC</vt:lpstr>
      <vt:lpstr>HarmonyOS Sans SC Medium</vt:lpstr>
      <vt:lpstr>HarmonyOS Sans TC Medium</vt:lpstr>
      <vt:lpstr>Maple Mono NF CN ExtraBold</vt:lpstr>
      <vt:lpstr>Tungsten Book</vt:lpstr>
      <vt:lpstr>Tungsten Medium</vt:lpstr>
      <vt:lpstr>Arial</vt:lpstr>
      <vt:lpstr>Calibri</vt:lpstr>
      <vt:lpstr>Cambria Math</vt:lpstr>
      <vt:lpstr>Georgia</vt:lpstr>
      <vt:lpstr>HarmonyOS Sans Medium</vt:lpstr>
      <vt:lpstr>Open Sans</vt:lpstr>
      <vt:lpstr>Office Theme</vt:lpstr>
      <vt:lpstr>GEOG 475 Advanced GIS Lab4</vt:lpstr>
      <vt:lpstr>Multi-Criteria Decision Making</vt:lpstr>
      <vt:lpstr>Multi-Criteria Decision Making</vt:lpstr>
      <vt:lpstr>Data Source - DEM</vt:lpstr>
      <vt:lpstr>Data Source - NDVI</vt:lpstr>
      <vt:lpstr>Data Source – Road Network</vt:lpstr>
      <vt:lpstr>Data Source – River Network</vt:lpstr>
      <vt:lpstr>Flowchart</vt:lpstr>
      <vt:lpstr>Criteria – Flood Map</vt:lpstr>
      <vt:lpstr>Criteria – Flood Map</vt:lpstr>
      <vt:lpstr>Criteria – Vegetation</vt:lpstr>
      <vt:lpstr>Criteria – Road Accessibility</vt:lpstr>
      <vt:lpstr>Criteria – Campus Accessibility</vt:lpstr>
      <vt:lpstr>Weighted Sum</vt:lpstr>
      <vt:lpstr>Tools</vt:lpstr>
      <vt:lpstr>Expr Questions</vt:lpstr>
      <vt:lpstr>Submission</vt:lpstr>
      <vt:lpstr>Grading Rule</vt:lpstr>
      <vt:lpstr>The End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/>
  <dc:creator>Jenna Kujawski</dc:creator>
  <cp:keywords/>
  <dc:description/>
  <cp:lastModifiedBy>Song, Zhenlei</cp:lastModifiedBy>
  <cp:revision>113</cp:revision>
  <dcterms:created xsi:type="dcterms:W3CDTF">2022-08-19T19:50:19Z</dcterms:created>
  <dcterms:modified xsi:type="dcterms:W3CDTF">2025-03-30T23:01:35Z</dcterms:modified>
  <cp:category/>
</cp:coreProperties>
</file>